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Logros, no Regaños</c:v>
                </c:pt>
              </c:strCache>
            </c:strRef>
          </c:tx>
          <c:spPr>
            <a:solidFill>
              <a:srgbClr val="A7BEAE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Deseable</c:v>
                </c:pt>
                <c:pt idx="1">
                  <c:v>Novedoso</c:v>
                </c:pt>
                <c:pt idx="2">
                  <c:v>Viable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08-4952-AC3D-D0F3800A71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Activación en el Mostrador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Deseable</c:v>
                </c:pt>
                <c:pt idx="1">
                  <c:v>Novedoso</c:v>
                </c:pt>
                <c:pt idx="2">
                  <c:v>Viable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08-4952-AC3D-D0F3800A71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E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0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2E2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2E2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63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pet_deck/icons/FaPaw_charcoal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8778240" y="-914400"/>
            <a:ext cx="5029200" cy="5029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1" descr="/root/pet_deck/icons/FaPa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" y="962406"/>
            <a:ext cx="452628" cy="4526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 — DEFENSA DE OPORTUNIDAD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22860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Comedero Inteligente para el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Peso Canino</a:t>
            </a:r>
            <a:endParaRPr lang="en-US" sz="42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343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con IA y un comedero inteligente, para que ningún perro suba de peso por un descuido que nadie decidió tener.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22960" y="5623560"/>
            <a:ext cx="100584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5"/>
          <p:cNvSpPr txBox="1"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Daniela Barranco de la Cerda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/root/pet_deck/icons/FaWeigh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784098"/>
            <a:ext cx="352044" cy="3520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713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DOLOR ⭐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3716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dolor que nadie ve venir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822960" y="246888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7E8D1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 txBox="1"/>
          <p:nvPr/>
        </p:nvSpPr>
        <p:spPr>
          <a:xfrm>
            <a:off x="1051560" y="2880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de cada 10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886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perros en México tiene sobrepeso u obesidad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51560" y="4892040"/>
            <a:ext cx="3108960" cy="0"/>
          </a:xfrm>
          <a:prstGeom prst="line">
            <a:avLst/>
          </a:prstGeom>
          <a:noFill/>
          <a:ln w="1905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 txBox="1"/>
          <p:nvPr/>
        </p:nvSpPr>
        <p:spPr>
          <a:xfrm>
            <a:off x="1051560" y="5029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reportes de mercado pet care México, 2026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5146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sobrealimentación pasa entre varias manos sin que nadie la sume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338328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decide sobrealimentar al perro. Pero entre la abuela que se queda en casa, la empleada doméstica y los hijos que llegan en la noche, entre todos lo logran.
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aparece meses después, sin que exista un solo responsable a quien señalar — y sin que nadie lo haya visto venir.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lo que ya existe no basta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workaround de hoy, y por qué se queda corto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950976"/>
          </a:xfrm>
          <a:prstGeom prst="roundRect">
            <a:avLst>
              <a:gd name="adj" fmla="val 9615"/>
            </a:avLst>
          </a:prstGeom>
          <a:solidFill>
            <a:srgbClr val="FAF9F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051560" y="2121408"/>
            <a:ext cx="658368" cy="658368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0" descr="/root/pet_deck/icons/FaMobileA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693" y="2269541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203911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de conteo de calorías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203911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 de que una sola persona registre cada comida — con varios cuidadores, nadie tiene el dato completo.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3081528"/>
            <a:ext cx="10515600" cy="950976"/>
          </a:xfrm>
          <a:prstGeom prst="roundRect">
            <a:avLst>
              <a:gd name="adj" fmla="val 9615"/>
            </a:avLst>
          </a:prstGeom>
          <a:solidFill>
            <a:srgbClr val="FAF9F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1051560" y="3236976"/>
            <a:ext cx="658368" cy="658368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1" name="Image 1" descr="/root/pet_deck/icons/Fa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693" y="338510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3154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Comederos programables genéricos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394960" y="31546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Controlan horario y cantidad, pero no calculan la porción correcta según raza, edad y objetivo del perro.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4197096"/>
            <a:ext cx="10515600" cy="950976"/>
          </a:xfrm>
          <a:prstGeom prst="roundRect">
            <a:avLst>
              <a:gd name="adj" fmla="val 9615"/>
            </a:avLst>
          </a:prstGeom>
          <a:solidFill>
            <a:srgbClr val="FAF9F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1051560" y="4352544"/>
            <a:ext cx="658368" cy="658368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6" name="Image 2" descr="/root/pet_deck/icons/FaUserM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9693" y="4500677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65960" y="42702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verbal del veterinario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394960" y="427024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porción correcta una vez, en consulta — nadie verifica que se cumpla todos los días en casa.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22960" y="5312664"/>
            <a:ext cx="10515600" cy="950976"/>
          </a:xfrm>
          <a:prstGeom prst="roundRect">
            <a:avLst>
              <a:gd name="adj" fmla="val 9615"/>
            </a:avLst>
          </a:prstGeom>
          <a:solidFill>
            <a:srgbClr val="FAF9F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5"/>
          <p:cNvSpPr/>
          <p:nvPr/>
        </p:nvSpPr>
        <p:spPr>
          <a:xfrm>
            <a:off x="1051560" y="5468112"/>
            <a:ext cx="658368" cy="658368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1" name="Image 3" descr="/root/pet_deck/icons/FaPrescriptionBottleA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693" y="5616245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965960" y="538581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Dietas de prescripción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394960" y="538581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 el síntoma cuando el perro ya subió de peso, no la causa de por qué nadie coordinó cuánto comía.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5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pet_deck/icons/FaQuoteLeft_terracotta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22960" y="8229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01168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una oportunidad para las hijas e hijos adultos que trabajan fuera de casa y necesitan tener la certeza de que su perro está comiendo lo correcto sin importar quién se lo </a:t>
            </a:r>
            <a:r>
              <a:rPr lang="en-US" sz="2800" b="1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</a:t>
            </a: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97764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914400" y="5806440"/>
            <a:ext cx="82296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 txBox="1"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LA OPORTUNIDAD EN UNA ORACIÓN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producto: MVP de este semestre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FAF9F7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143000" y="192024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5" name="Image 0" descr="/root/pet_deck/icons/FaBar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305" y="2074545"/>
            <a:ext cx="377190" cy="3771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comedero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170432" y="2953512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 txBox="1"/>
          <p:nvPr/>
        </p:nvSpPr>
        <p:spPr>
          <a:xfrm>
            <a:off x="1417320" y="280720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peso que mide cuánto alimento hay y cuánto se sirvió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70432" y="3913632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 txBox="1"/>
          <p:nvPr/>
        </p:nvSpPr>
        <p:spPr>
          <a:xfrm>
            <a:off x="1417320" y="376732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código de barras del costal para conocer la marca sin catálogo que mantener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170432" y="4873752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 txBox="1"/>
          <p:nvPr/>
        </p:nvSpPr>
        <p:spPr>
          <a:xfrm>
            <a:off x="1417320" y="472744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pantalla ni botones — en casa solo hay que enchufarlo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63640" y="160020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FAF9F7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6583680" y="1920240"/>
            <a:ext cx="685800" cy="685800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5" name="Image 1" descr="/root/pet_deck/icons/Fa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985" y="2074545"/>
            <a:ext cx="377190" cy="37719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452360" y="1874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app — asistente de nutrición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611112" y="2953512"/>
            <a:ext cx="91440" cy="91440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 txBox="1"/>
          <p:nvPr/>
        </p:nvSpPr>
        <p:spPr>
          <a:xfrm>
            <a:off x="6858000" y="280720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 porción diaria con fórmulas veterinarias estándar (raza, edad, peso, objetivo)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611112" y="3913632"/>
            <a:ext cx="91440" cy="91440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 txBox="1"/>
          <p:nvPr/>
        </p:nvSpPr>
        <p:spPr>
          <a:xfrm>
            <a:off x="6858000" y="376732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las 15 marcas de alimento más comunes en México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6611112" y="4873752"/>
            <a:ext cx="91440" cy="91440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 txBox="1"/>
          <p:nvPr/>
        </p:nvSpPr>
        <p:spPr>
          <a:xfrm>
            <a:off x="6858000" y="472744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cuando se acaba el alimento o conviene una revisión veterinaria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semestre no incluye ningún sensor puesto sobre el perro — el comedero es la única fuente de verdad. Ver visión a futuro.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ajusta la dieta del perro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ciclo continuo, no una configuración de una sola vez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AF9F7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677924" y="246888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0" descr="/root/pet_deck/icons/Fa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803" y="2643759"/>
            <a:ext cx="427482" cy="4274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76148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42900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inicial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411480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Raza, edad, peso y objetivo: bajar, subir o mantener.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 rot="5400000">
            <a:off x="3314700" y="3840480"/>
            <a:ext cx="155448" cy="182880"/>
          </a:xfrm>
          <a:prstGeom prst="triangl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3474720" y="214884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E7E8D1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4329684" y="246888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1" descr="/root/pet_deck/icons/FaChar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563" y="2643759"/>
            <a:ext cx="427482" cy="42748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1324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342900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activa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3675888" y="411480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calcula y el comedero sirve la porción diaria exacta.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 rot="5400000">
            <a:off x="5966460" y="3840480"/>
            <a:ext cx="155448" cy="182880"/>
          </a:xfrm>
          <a:prstGeom prst="triangl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6126480" y="214884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AF9F7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6981444" y="246888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0" name="Image 2" descr="/root/pet_deck/icons/FaCalendar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6323" y="2643759"/>
            <a:ext cx="427482" cy="42748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06500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342900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periódica</a:t>
            </a:r>
            <a:endParaRPr lang="en-US" sz="1550" dirty="0"/>
          </a:p>
        </p:txBody>
      </p:sp>
      <p:sp>
        <p:nvSpPr>
          <p:cNvPr id="23" name="Text 18"/>
          <p:cNvSpPr txBox="1"/>
          <p:nvPr/>
        </p:nvSpPr>
        <p:spPr>
          <a:xfrm>
            <a:off x="6327648" y="411480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el peso real del perro en cada pesaje de control.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 rot="5400000">
            <a:off x="8618220" y="3840480"/>
            <a:ext cx="155448" cy="182880"/>
          </a:xfrm>
          <a:prstGeom prst="triangl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Shape 20"/>
          <p:cNvSpPr/>
          <p:nvPr/>
        </p:nvSpPr>
        <p:spPr>
          <a:xfrm>
            <a:off x="8778240" y="214884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E7E8D1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1"/>
          <p:cNvSpPr/>
          <p:nvPr/>
        </p:nvSpPr>
        <p:spPr>
          <a:xfrm>
            <a:off x="9633204" y="246888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7" name="Image 3" descr="/root/pet_deck/icons/FaCheckCirc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8083" y="2643759"/>
            <a:ext cx="427482" cy="42748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71676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8961120" y="342900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mantenimiento</a:t>
            </a:r>
            <a:endParaRPr lang="en-US" sz="1550" dirty="0"/>
          </a:p>
        </p:txBody>
      </p:sp>
      <p:sp>
        <p:nvSpPr>
          <p:cNvPr id="30" name="Text 24"/>
          <p:cNvSpPr txBox="1"/>
          <p:nvPr/>
        </p:nvSpPr>
        <p:spPr>
          <a:xfrm>
            <a:off x="8979408" y="411480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llegar a su peso, la porción se ajusta para evitar el rebote.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/root/pet_deck/icons/FaStor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738378"/>
            <a:ext cx="352044" cy="3520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6675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RECOMENDADO · FILTRO DVN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Activación en el Mostrador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8600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comedero no llega a casa para que la familia lo configure.
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vendedor de la veterinaria o tienda escanea el costal y pesa al perro en el mostrador — el dispositivo sale de la tienda ya listo. El adulto mayor solo tiene que enchufarlo.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489204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E7E8D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 txBox="1"/>
          <p:nvPr/>
        </p:nvSpPr>
        <p:spPr>
          <a:xfrm>
            <a:off x="1051560" y="498348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principal: la viabilidad operativa — depende de que veterinarias o tiendas piloto acepten hacer la activación.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DVN por criterio</a:t>
            </a:r>
            <a:endParaRPr lang="en-US" sz="13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720840" y="1783080"/>
          <a:ext cx="4663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evidencia de deseabilidad, con honestidad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291840" cy="4434840"/>
          </a:xfrm>
          <a:prstGeom prst="roundRect">
            <a:avLst>
              <a:gd name="adj" fmla="val 3333"/>
            </a:avLst>
          </a:prstGeom>
          <a:solidFill>
            <a:srgbClr val="352A24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1051560" y="21031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de 5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1089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deseabilidad confirmadas con evidencia sólida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51560" y="429768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1051560" y="4297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BAJO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983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por validar con usuarios reales, no confirmadas todavía.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502920" cy="502920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mage 0" descr="/root/pet_deck/icons/Fa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174650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257800" y="16184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y cotidianidad del dolor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19476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a diario — evidencia sólida.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0" y="2487168"/>
            <a:ext cx="502920" cy="502920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4" name="Image 1" descr="/root/pet_deck/icons/Fa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2587752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57800" y="24597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cuantificable de no resolverlo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5257800" y="2788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$300–1,200 MXN/mes en gasto veterinario — evidencia sólida.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572000" y="3328416"/>
            <a:ext cx="502920" cy="502920"/>
          </a:xfrm>
          <a:prstGeom prst="ellipse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8" name="Image 2" descr="/root/pet_deck/icons/FaQuestionCircle_terracot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3429000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57800" y="33009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Fracaso específico de las alternativas actuales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5257800" y="36301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evidencia genérica, no del mecanismo multi-cuidador.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0" y="4169664"/>
            <a:ext cx="502920" cy="502920"/>
          </a:xfrm>
          <a:prstGeom prst="ellipse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2" name="Image 3" descr="/root/pet_deck/icons/FaQuestionCircle_terracot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4270248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257800" y="41422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elegido verificado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5257800" y="44714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hogar multigeneracional es una inferencia nuestra, no confirmada.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572000" y="5010912"/>
            <a:ext cx="502920" cy="502920"/>
          </a:xfrm>
          <a:prstGeom prst="ellipse">
            <a:avLst/>
          </a:prstGeom>
          <a:solidFill>
            <a:srgbClr val="E7E8D1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6" name="Image 4" descr="/root/pet_deck/icons/FaQuestionCircle_terracot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5111496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4983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Disposición a pagar por esta solución exacta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5257800" y="53126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evidencia de pago específico al mecanismo propuesto.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/root/pet_deck/icons/FaExclamationTriang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39" y="860679"/>
            <a:ext cx="427482" cy="4274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783080" y="7498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 CUESTIONADA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783080" y="11155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todavía no está probado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105156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 txBox="1"/>
          <p:nvPr/>
        </p:nvSpPr>
        <p:spPr>
          <a:xfrm>
            <a:off x="1097280" y="214884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 a validar: hay mercado probado para comederos inteligentes y control de alimentación, pero no hay evidencia suficiente de que la sobrealimentación entre cuidadores ni el mensaje “mamá y perro están bien” sean dolores frecuentes y pagables como para justificar construir alrededor de esta arista sin entrevistas y prueba de demanda específicas.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86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que las entrevistas de la próxima semana deben responder: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4526280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 txBox="1"/>
          <p:nvPr/>
        </p:nvSpPr>
        <p:spPr>
          <a:xfrm>
            <a:off x="1143000" y="43891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hijos/hijas saben cuánto le da de comer cada cuidador al perro en un día típico?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" y="5093208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 txBox="1"/>
          <p:nvPr/>
        </p:nvSpPr>
        <p:spPr>
          <a:xfrm>
            <a:off x="1143000" y="49560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¿Prefieren activación en tienda sobre configurar ellos mismos desde su celular?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68680" y="5660136"/>
            <a:ext cx="100584" cy="100584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 txBox="1"/>
          <p:nvPr/>
        </p:nvSpPr>
        <p:spPr>
          <a:xfrm>
            <a:off x="1143000" y="552297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¿Pagarían $400–700 MXN/mes por la certeza de la porción correcta?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nosotros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074920" cy="4526280"/>
          </a:xfrm>
          <a:prstGeom prst="roundRect">
            <a:avLst>
              <a:gd name="adj" fmla="val 2424"/>
            </a:avLst>
          </a:prstGeom>
          <a:solidFill>
            <a:srgbClr val="FAF9F7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143000" y="1828800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5" name="Image 0" descr="/root/pet_deck/icons/FaHe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133" y="1976933"/>
            <a:ext cx="362102" cy="3621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901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Pasión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269748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producto no existe, y el problema es real: en nuestra propia familia hay una perrita, </a:t>
            </a:r>
            <a:r>
              <a:rPr lang="en-US" sz="12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Rinna</a:t>
            </a:r>
            <a:r>
              <a:rPr lang="en-US" sz="125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sobrepeso. El veterinario le recetó alimento especial para bajar de peso — pero el costal era caro, y en cuanto lo dejamos, volvió a subir.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97280" y="4663440"/>
            <a:ext cx="4572000" cy="0"/>
          </a:xfrm>
          <a:prstGeom prst="line">
            <a:avLst/>
          </a:prstGeom>
          <a:noFill/>
          <a:ln w="1270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 txBox="1"/>
          <p:nvPr/>
        </p:nvSpPr>
        <p:spPr>
          <a:xfrm>
            <a:off x="1097280" y="48463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¿Seguiríamos si no hubiera calificación? Sí — el problema ya nos costó dinero y a Rinna, calidad de vida.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1554480"/>
            <a:ext cx="5074920" cy="4526280"/>
          </a:xfrm>
          <a:prstGeom prst="roundRect">
            <a:avLst>
              <a:gd name="adj" fmla="val 2424"/>
            </a:avLst>
          </a:prstGeom>
          <a:solidFill>
            <a:srgbClr val="FAF9F7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6583680" y="1828800"/>
            <a:ext cx="658368" cy="658368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4" name="Image 1" descr="/root/pet_deck/icons/FaTool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813" y="1976933"/>
            <a:ext cx="362102" cy="3621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06640" y="1901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Habilidad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2697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sí sabemos hacer: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629400" y="3163824"/>
            <a:ext cx="82296" cy="82296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 txBox="1"/>
          <p:nvPr/>
        </p:nvSpPr>
        <p:spPr>
          <a:xfrm>
            <a:off x="6858000" y="3035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629400" y="3547872"/>
            <a:ext cx="82296" cy="82296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 txBox="1"/>
          <p:nvPr/>
        </p:nvSpPr>
        <p:spPr>
          <a:xfrm>
            <a:off x="6858000" y="34198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629400" y="3931920"/>
            <a:ext cx="82296" cy="82296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 txBox="1"/>
          <p:nvPr/>
        </p:nvSpPr>
        <p:spPr>
          <a:xfrm>
            <a:off x="6858000" y="38039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fabricación digital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583680" y="4526280"/>
            <a:ext cx="4480560" cy="0"/>
          </a:xfrm>
          <a:prstGeom prst="line">
            <a:avLst/>
          </a:prstGeom>
          <a:noFill/>
          <a:ln w="1270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0"/>
          <p:cNvSpPr txBox="1"/>
          <p:nvPr/>
        </p:nvSpPr>
        <p:spPr>
          <a:xfrm>
            <a:off x="6583680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todavía necesitamos: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6583680" y="5074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podemos nombrar hoy el sensor, el modelo de IA ni el protocolo exactos para el prototipo final — necesitamos apoyo técnico para definirlos.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10D00BA3-9F14-7AA3-A7FB-499D840ABE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530" r="12493"/>
          <a:stretch>
            <a:fillRect/>
          </a:stretch>
        </p:blipFill>
        <p:spPr>
          <a:xfrm>
            <a:off x="1127760" y="2729196"/>
            <a:ext cx="1726163" cy="16922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5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/root/pet_deck/icons/FaHeartbe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39" y="906399"/>
            <a:ext cx="427482" cy="4274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783080" y="8046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A FUTURO · FASE 2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783080" y="11704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allá de este semestre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860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sensor que el perro llevaría puesto mediría signos vitales en tiempo real, permitiendo una detección de salud continua y no solo periódica.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347472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473A3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 txBox="1"/>
          <p:nvPr/>
        </p:nvSpPr>
        <p:spPr>
          <a:xfrm>
            <a:off x="1097280" y="36576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esto no es parte del MVP de este semestre: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406908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DVN marcó esta capacidad como no viable en 4 meses: requiere medir el peso corporal y los signos vitales del perro de forma continua, algo que el comedero (que solo mide el alimento) no puede hacer. Primero construimos y validamos el comedero; el sensor corporal es la siguiente etapa, no la primera.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5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pet_deck/icons/FaPaw_charcoal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1097280" y="2926080"/>
            <a:ext cx="5029200" cy="5029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73152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1" descr="/root/pet_deck/icons/FaBulls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896112"/>
            <a:ext cx="402336" cy="40233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73736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COMPROMISO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155448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Esto es real, tenemos evidencia, y somos nosotros quienes vamos a resolverlo.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pasos, antes de construir: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22960" y="3840480"/>
            <a:ext cx="621792" cy="621792"/>
          </a:xfrm>
          <a:prstGeom prst="ellipse">
            <a:avLst/>
          </a:prstGeom>
          <a:solidFill>
            <a:srgbClr val="473A3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9" name="Image 2" descr="/root/pet_deck/icons/Fa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3" y="3980383"/>
            <a:ext cx="341986" cy="34198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45920" y="38221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con usuarios reales</a:t>
            </a:r>
            <a:endParaRPr lang="en-US" sz="1450" dirty="0"/>
          </a:p>
        </p:txBody>
      </p:sp>
      <p:sp>
        <p:nvSpPr>
          <p:cNvPr id="11" name="Text 6"/>
          <p:cNvSpPr txBox="1"/>
          <p:nvPr/>
        </p:nvSpPr>
        <p:spPr>
          <a:xfrm>
            <a:off x="1645920" y="41422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las 3 hipótesis de dolor, solución y pago de la semana.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822960" y="4754880"/>
            <a:ext cx="621792" cy="621792"/>
          </a:xfrm>
          <a:prstGeom prst="ellipse">
            <a:avLst/>
          </a:prstGeom>
          <a:solidFill>
            <a:srgbClr val="473A3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3" descr="/root/pet_deck/icons/FaStor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863" y="4894783"/>
            <a:ext cx="341986" cy="34198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45920" y="47365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 con veterinarias y tiendas piloto</a:t>
            </a:r>
            <a:endParaRPr lang="en-US" sz="1450" dirty="0"/>
          </a:p>
        </p:txBody>
      </p:sp>
      <p:sp>
        <p:nvSpPr>
          <p:cNvPr id="15" name="Text 9"/>
          <p:cNvSpPr txBox="1"/>
          <p:nvPr/>
        </p:nvSpPr>
        <p:spPr>
          <a:xfrm>
            <a:off x="1645920" y="50566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si aceptarían hacer la activación en mostrador.</a:t>
            </a:r>
            <a:endParaRPr lang="en-US" sz="1250" dirty="0"/>
          </a:p>
        </p:txBody>
      </p:sp>
      <p:sp>
        <p:nvSpPr>
          <p:cNvPr id="16" name="Text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1125</Words>
  <Application>Microsoft Office PowerPoint</Application>
  <PresentationFormat>Panorámica</PresentationFormat>
  <Paragraphs>122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Daniela Barranco De la Cerda</cp:lastModifiedBy>
  <cp:revision>2</cp:revision>
  <dcterms:created xsi:type="dcterms:W3CDTF">2026-09-10T01:56:18Z</dcterms:created>
  <dcterms:modified xsi:type="dcterms:W3CDTF">2026-09-10T02:12:13Z</dcterms:modified>
</cp:coreProperties>
</file>